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89" r:id="rId5"/>
    <p:sldId id="340" r:id="rId6"/>
    <p:sldId id="329" r:id="rId7"/>
    <p:sldId id="336" r:id="rId8"/>
    <p:sldId id="34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9" userDrawn="1">
          <p15:clr>
            <a:srgbClr val="A4A3A4"/>
          </p15:clr>
        </p15:guide>
        <p15:guide id="4" pos="7068" userDrawn="1">
          <p15:clr>
            <a:srgbClr val="A4A3A4"/>
          </p15:clr>
        </p15:guide>
        <p15:guide id="5" orient="horz" pos="13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CBE"/>
    <a:srgbClr val="85509A"/>
    <a:srgbClr val="714484"/>
    <a:srgbClr val="0073CF"/>
    <a:srgbClr val="203232"/>
    <a:srgbClr val="30454F"/>
    <a:srgbClr val="1295D8"/>
    <a:srgbClr val="004A5C"/>
    <a:srgbClr val="0093B6"/>
    <a:srgbClr val="00B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1EB13-4B4A-3A65-7705-B39B10420BC6}" v="11" dt="2025-11-07T13:21:13.889"/>
    <p1510:client id="{94404E7A-4EB2-D0DE-A758-3B2FEF7E6025}" v="1178" dt="2025-11-07T14:31:40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5"/>
    <p:restoredTop sz="94628"/>
  </p:normalViewPr>
  <p:slideViewPr>
    <p:cSldViewPr snapToGrid="0">
      <p:cViewPr varScale="1">
        <p:scale>
          <a:sx n="84" d="100"/>
          <a:sy n="84" d="100"/>
        </p:scale>
        <p:origin x="566" y="72"/>
      </p:cViewPr>
      <p:guideLst>
        <p:guide orient="horz" pos="2160"/>
        <p:guide pos="3840"/>
        <p:guide orient="horz" pos="3249"/>
        <p:guide pos="7068"/>
        <p:guide orient="horz" pos="13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8966F2-21A1-4B2B-ADA6-AD0BB447B7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468BB-CDF2-4507-B4EF-7B369D307A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AC3A-BD1F-4A00-9099-74B95789FE00}" type="datetimeFigureOut">
              <a:rPr lang="en-GB" smtClean="0"/>
              <a:pPr/>
              <a:t>24/11/2025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BCF7D-6037-48D3-84E5-56B8B0552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9E732-656C-4BB5-ACCB-1568C5C66D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51D9-0FEB-436E-9280-D6033F6035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584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59C8A-39F6-4045-9163-4042C4C26B15}" type="datetimeFigureOut">
              <a:rPr lang="en-GB" smtClean="0"/>
              <a:pPr/>
              <a:t>24/11/2025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70952-48CC-46D7-9FCD-59FAD40CC0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2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718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941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984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429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Hertfordshire logo">
            <a:extLst>
              <a:ext uri="{FF2B5EF4-FFF2-40B4-BE49-F238E27FC236}">
                <a16:creationId xmlns:a16="http://schemas.microsoft.com/office/drawing/2014/main" id="{16E4BB13-0D32-AA4A-BF91-2B76A7C182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4000" y="2854800"/>
            <a:ext cx="6501600" cy="115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6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4000" y="1890000"/>
            <a:ext cx="10031156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CCF2CA0-CCE3-4304-8F31-4D1CC50BC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000" y="5511600"/>
            <a:ext cx="2242800" cy="39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1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890000"/>
            <a:ext cx="7200000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91022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449821-0D0D-644D-97A3-D56097A9C6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EB17-8019-7B4E-B53C-76B057A7C31F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03EF50-F00F-9643-BE53-F0A5272FC4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998" y="5517266"/>
            <a:ext cx="2244881" cy="3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0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BDFA-876B-4255-A301-F62F1EDD8D6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73668" y="2717444"/>
            <a:ext cx="4903200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6000" y="2717444"/>
            <a:ext cx="4456800" cy="31752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19DAE-53D8-4F04-A4B9-B6EDFC23886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4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5" userDrawn="1">
          <p15:clr>
            <a:srgbClr val="FBAE40"/>
          </p15:clr>
        </p15:guide>
        <p15:guide id="3" pos="3989" userDrawn="1">
          <p15:clr>
            <a:srgbClr val="FBAE40"/>
          </p15:clr>
        </p15:guide>
        <p15:guide id="4" pos="37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2717600"/>
            <a:ext cx="10251722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32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/>
          <a:p>
            <a:r>
              <a:rPr lang="en-US"/>
              <a:t>Click to add title.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3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r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9D4C03-E8B1-644E-949B-F7AF911818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chemeClr val="bg1"/>
                </a:solidFill>
              </a:defRPr>
            </a:lvl1pPr>
            <a:lvl2pPr>
              <a:defRPr lang="en-US" dirty="0" smtClean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EDA17D-AAE6-954F-93C6-90B8D7B80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62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35952" y="2728800"/>
            <a:ext cx="2959200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GB" spc="-100" baseline="0" dirty="0"/>
            </a:lvl4pPr>
            <a:lvl5pPr>
              <a:defRPr spc="-100" baseline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74043F1-6F14-49BD-83CA-12B559ABC1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088" y="2728913"/>
            <a:ext cx="6400800" cy="4129087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1C537-0174-43E5-8B81-C80AF1D06831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11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FCF96-B7D6-4CCD-A4AE-46A67249D3B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1F3B7A-B2BF-40FC-8EB2-F1C37D3164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3999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5B7A667-B99F-7A41-AAC3-ED24B9B1D92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78804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3C1FF47-695D-B348-AF37-1ADF5736FA9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13975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04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7C322-846C-9045-AD91-A93C82FC5A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92035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ABCF9A5-761F-434B-BBB5-D788CB1E79D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140400" y="140400"/>
            <a:ext cx="11916000" cy="6580800"/>
          </a:xfrm>
          <a:solidFill>
            <a:schemeClr val="bg1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80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99880E3-4DE3-A642-9738-DF49DDCC9A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70139" y="4079342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37D495-D835-8E4B-A177-5E12F893DD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77200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804C7E-983C-9246-90C0-AF8A0CE2CA8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23669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410427-8F1D-7541-9C05-AFDD3531678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6217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8B7D5964-7A97-5742-8717-CCB747F84A0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1570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44933FE-A401-A841-9AC3-B75285AA32D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69236" y="1640942"/>
            <a:ext cx="2160587" cy="2160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1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2CE188-32E7-4242-9E44-E8055FC030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002" y="5511600"/>
            <a:ext cx="2242795" cy="397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44" y="1964352"/>
            <a:ext cx="11828559" cy="1051570"/>
          </a:xfrm>
        </p:spPr>
        <p:txBody>
          <a:bodyPr vert="horz" wrap="non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lang="en-GB" sz="7386" spc="-3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8186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BE80A-BFEC-E24A-B510-73A571F1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25B4-144A-5B4A-8EAD-2022412D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70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A62CF-E2B4-496D-829D-DCE37260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84EF4-0E07-4BF3-A4AB-3E8632AA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139" y="2717600"/>
            <a:ext cx="10279150" cy="317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 b="1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27A5D-B761-4C2F-97E6-5D8254424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0139" y="775255"/>
            <a:ext cx="7176911" cy="2308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661B1-4E4B-4F85-ACA3-C34023D70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5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00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77" r:id="rId3"/>
    <p:sldLayoutId id="2147483652" r:id="rId4"/>
    <p:sldLayoutId id="2147483682" r:id="rId5"/>
    <p:sldLayoutId id="2147483721" r:id="rId6"/>
    <p:sldLayoutId id="2147483722" r:id="rId7"/>
    <p:sldLayoutId id="2147483684" r:id="rId8"/>
    <p:sldLayoutId id="2147483685" r:id="rId9"/>
    <p:sldLayoutId id="2147483686" r:id="rId10"/>
    <p:sldLayoutId id="2147483723" r:id="rId11"/>
    <p:sldLayoutId id="2147483706" r:id="rId12"/>
    <p:sldLayoutId id="2147483697" r:id="rId13"/>
  </p:sldLayoutIdLst>
  <p:hf hd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2000" spc="-100" baseline="0">
          <a:solidFill>
            <a:srgbClr val="20323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b="1" kern="2000" spc="-100" baseline="0">
          <a:solidFill>
            <a:srgbClr val="20323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■"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rgbClr val="20323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rgbClr val="2032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pos="604" userDrawn="1">
          <p15:clr>
            <a:srgbClr val="F26B43"/>
          </p15:clr>
        </p15:guide>
        <p15:guide id="5" pos="7076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604" userDrawn="1">
          <p15:clr>
            <a:srgbClr val="F26B43"/>
          </p15:clr>
        </p15:guide>
        <p15:guide id="10" orient="horz" pos="3712" userDrawn="1">
          <p15:clr>
            <a:srgbClr val="F26B43"/>
          </p15:clr>
        </p15:guide>
        <p15:guide id="11" orient="horz" pos="1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AEE4-CC66-FE42-B0C3-2CC7AFD37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999" y="1949554"/>
            <a:ext cx="10031157" cy="21600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Research Question – </a:t>
            </a:r>
            <a:r>
              <a:rPr lang="en-GB" sz="3600" b="0" dirty="0"/>
              <a:t>“Is there a correlation between diamond price and diamond carat weight?”</a:t>
            </a:r>
            <a:br>
              <a:rPr lang="en-GB" dirty="0"/>
            </a:br>
            <a:r>
              <a:rPr lang="en-US" sz="4000" dirty="0"/>
              <a:t>Tutorial Presentation for Feedback</a:t>
            </a:r>
            <a:br>
              <a:rPr lang="en-US" sz="4000" dirty="0"/>
            </a:br>
            <a:br>
              <a:rPr lang="en-US" sz="8000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5DA97-5166-7F4B-BC83-F50AC8BED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435140"/>
            <a:ext cx="10031156" cy="400110"/>
          </a:xfrm>
        </p:spPr>
        <p:txBody>
          <a:bodyPr/>
          <a:lstStyle/>
          <a:p>
            <a:r>
              <a:rPr lang="en-US" sz="2000" dirty="0"/>
              <a:t>Group Name:   A 61                                 Name of Student Presenting: Prabhat  Vanmore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F4D14-5620-EC41-A86C-6CC3CFD6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274320"/>
            <a:ext cx="10455567" cy="736245"/>
          </a:xfrm>
        </p:spPr>
        <p:txBody>
          <a:bodyPr/>
          <a:lstStyle/>
          <a:p>
            <a:r>
              <a:rPr lang="en-GB" dirty="0"/>
              <a:t>7COM1079-2025  Student Group No:  A 61               Names of Student Attendees: Hafiz Malik Hamza Imran, Prabhat Vanmore, Hafiz Muhammad Ehsan Bhatti, Fahad Bin Akram, Muhammad Omer Butt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A8A81-B670-965D-6D33-8C4B222B54D4}"/>
              </a:ext>
            </a:extLst>
          </p:cNvPr>
          <p:cNvSpPr txBox="1"/>
          <p:nvPr/>
        </p:nvSpPr>
        <p:spPr>
          <a:xfrm>
            <a:off x="953999" y="91188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ID: </a:t>
            </a:r>
            <a:r>
              <a:rPr lang="en-GB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DS247</a:t>
            </a:r>
          </a:p>
        </p:txBody>
      </p:sp>
    </p:spTree>
    <p:extLst>
      <p:ext uri="{BB962C8B-B14F-4D97-AF65-F5344CB8AC3E}">
        <p14:creationId xmlns:p14="http://schemas.microsoft.com/office/powerpoint/2010/main" val="414853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E3CD731-5ACF-B002-247D-243F6E214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415107"/>
            <a:ext cx="7200000" cy="360000"/>
          </a:xfrm>
        </p:spPr>
        <p:txBody>
          <a:bodyPr vert="horz" lIns="0" tIns="0" rIns="0" bIns="0" rtlCol="0" anchor="t">
            <a:noAutofit/>
          </a:bodyPr>
          <a:lstStyle/>
          <a:p>
            <a:pPr>
              <a:spcAft>
                <a:spcPts val="0"/>
              </a:spcAft>
            </a:pPr>
            <a:r>
              <a:rPr lang="en-GB" dirty="0">
                <a:solidFill>
                  <a:srgbClr val="203232"/>
                </a:solidFill>
                <a:cs typeface="Arial"/>
              </a:rPr>
              <a:t>Here is a sample of our dataset: </a:t>
            </a:r>
            <a:endParaRPr lang="en-GB" sz="1800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 7COM1079-2025  Student Group No:  A61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</a:t>
            </a:r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7BC3889-4E0F-9199-0719-90A9DAD88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321186"/>
              </p:ext>
            </p:extLst>
          </p:nvPr>
        </p:nvGraphicFramePr>
        <p:xfrm>
          <a:off x="965289" y="1950953"/>
          <a:ext cx="9292403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727">
                  <a:extLst>
                    <a:ext uri="{9D8B030D-6E8A-4147-A177-3AD203B41FA5}">
                      <a16:colId xmlns:a16="http://schemas.microsoft.com/office/drawing/2014/main" val="4141954126"/>
                    </a:ext>
                  </a:extLst>
                </a:gridCol>
                <a:gridCol w="1200304">
                  <a:extLst>
                    <a:ext uri="{9D8B030D-6E8A-4147-A177-3AD203B41FA5}">
                      <a16:colId xmlns:a16="http://schemas.microsoft.com/office/drawing/2014/main" val="2772626132"/>
                    </a:ext>
                  </a:extLst>
                </a:gridCol>
                <a:gridCol w="1003192">
                  <a:extLst>
                    <a:ext uri="{9D8B030D-6E8A-4147-A177-3AD203B41FA5}">
                      <a16:colId xmlns:a16="http://schemas.microsoft.com/office/drawing/2014/main" val="3451136656"/>
                    </a:ext>
                  </a:extLst>
                </a:gridCol>
                <a:gridCol w="1054638">
                  <a:extLst>
                    <a:ext uri="{9D8B030D-6E8A-4147-A177-3AD203B41FA5}">
                      <a16:colId xmlns:a16="http://schemas.microsoft.com/office/drawing/2014/main" val="263623641"/>
                    </a:ext>
                  </a:extLst>
                </a:gridCol>
                <a:gridCol w="1028915">
                  <a:extLst>
                    <a:ext uri="{9D8B030D-6E8A-4147-A177-3AD203B41FA5}">
                      <a16:colId xmlns:a16="http://schemas.microsoft.com/office/drawing/2014/main" val="3022883369"/>
                    </a:ext>
                  </a:extLst>
                </a:gridCol>
                <a:gridCol w="810271">
                  <a:extLst>
                    <a:ext uri="{9D8B030D-6E8A-4147-A177-3AD203B41FA5}">
                      <a16:colId xmlns:a16="http://schemas.microsoft.com/office/drawing/2014/main" val="1494171283"/>
                    </a:ext>
                  </a:extLst>
                </a:gridCol>
                <a:gridCol w="835994">
                  <a:extLst>
                    <a:ext uri="{9D8B030D-6E8A-4147-A177-3AD203B41FA5}">
                      <a16:colId xmlns:a16="http://schemas.microsoft.com/office/drawing/2014/main" val="4165911892"/>
                    </a:ext>
                  </a:extLst>
                </a:gridCol>
                <a:gridCol w="971994">
                  <a:extLst>
                    <a:ext uri="{9D8B030D-6E8A-4147-A177-3AD203B41FA5}">
                      <a16:colId xmlns:a16="http://schemas.microsoft.com/office/drawing/2014/main" val="1100160909"/>
                    </a:ext>
                  </a:extLst>
                </a:gridCol>
                <a:gridCol w="651307">
                  <a:extLst>
                    <a:ext uri="{9D8B030D-6E8A-4147-A177-3AD203B41FA5}">
                      <a16:colId xmlns:a16="http://schemas.microsoft.com/office/drawing/2014/main" val="3485267072"/>
                    </a:ext>
                  </a:extLst>
                </a:gridCol>
                <a:gridCol w="844061">
                  <a:extLst>
                    <a:ext uri="{9D8B030D-6E8A-4147-A177-3AD203B41FA5}">
                      <a16:colId xmlns:a16="http://schemas.microsoft.com/office/drawing/2014/main" val="3833405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  <a:endParaRPr lang="en-GB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2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K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5514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949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827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076470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E69F1F0-337A-3990-CDFC-BAB55433342C}"/>
              </a:ext>
            </a:extLst>
          </p:cNvPr>
          <p:cNvSpPr txBox="1"/>
          <p:nvPr/>
        </p:nvSpPr>
        <p:spPr>
          <a:xfrm>
            <a:off x="965289" y="4377239"/>
            <a:ext cx="36653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Summary Information: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Rows: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53,940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Variables: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7C4779-EB01-D12E-540D-44B241A87942}"/>
              </a:ext>
            </a:extLst>
          </p:cNvPr>
          <p:cNvSpPr txBox="1"/>
          <p:nvPr/>
        </p:nvSpPr>
        <p:spPr>
          <a:xfrm>
            <a:off x="4009292" y="4377239"/>
            <a:ext cx="552215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 Mixture: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(Interval/Ratio):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carat, depth, table, price, x, y, 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(Ordinal/Nominal):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cut,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clarity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13092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9D8228-727F-1E46-B5AD-91D158B82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1448922"/>
            <a:ext cx="10110240" cy="29968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Dataset </a:t>
            </a:r>
            <a:r>
              <a:rPr lang="en-US" dirty="0">
                <a:solidFill>
                  <a:srgbClr val="203232"/>
                </a:solidFill>
              </a:rPr>
              <a:t>ID: </a:t>
            </a:r>
            <a:r>
              <a:rPr lang="en-US" b="0" dirty="0">
                <a:solidFill>
                  <a:srgbClr val="203232"/>
                </a:solidFill>
              </a:rPr>
              <a:t>DS247</a:t>
            </a:r>
            <a:endParaRPr lang="en-US" sz="2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C183-8AA5-EC44-9987-D65F5C18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8" y="791022"/>
            <a:ext cx="9129687" cy="230832"/>
          </a:xfrm>
        </p:spPr>
        <p:txBody>
          <a:bodyPr/>
          <a:lstStyle/>
          <a:p>
            <a:r>
              <a:rPr lang="en-GB" dirty="0"/>
              <a:t>7COM1079-2025  Student Group No: A61                   Names of Student Group Attendees: Hafiz Malik Hamza Imran, Prabhat Vanmore, Hafiz Muhammad Ehsan Bhatti, Fahad Bin Akram, Muhammad Omer Butt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9611-42EE-7840-81EE-DD6B1A99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4512" y="555565"/>
            <a:ext cx="622800" cy="230832"/>
          </a:xfrm>
        </p:spPr>
        <p:txBody>
          <a:bodyPr/>
          <a:lstStyle/>
          <a:p>
            <a:r>
              <a:rPr lang="en-US"/>
              <a:t>2</a:t>
            </a:r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FA3829-F12C-214D-8FBA-7E1A740F6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88" y="1834221"/>
            <a:ext cx="10974945" cy="90421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0" dirty="0">
                <a:latin typeface="Calibri"/>
                <a:cs typeface="Calibri"/>
              </a:rPr>
              <a:t>This dataset is interesting to us because it allows us to explore how diamond characteristics influence price</a:t>
            </a:r>
            <a:b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b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2D6C0D-D649-2AA9-7741-835F3E841A25}"/>
              </a:ext>
            </a:extLst>
          </p:cNvPr>
          <p:cNvSpPr txBox="1"/>
          <p:nvPr/>
        </p:nvSpPr>
        <p:spPr>
          <a:xfrm>
            <a:off x="4091354" y="5133927"/>
            <a:ext cx="76266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Choosing These Variables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major measurable feature that could logically influence price.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outcome variable that helps us quantify this influence.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variables are continuous, making them suitable for a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correlation-based research question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(Template 1).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956FD6-04AC-1597-CFC4-936798460E0C}"/>
              </a:ext>
            </a:extLst>
          </p:cNvPr>
          <p:cNvSpPr txBox="1"/>
          <p:nvPr/>
        </p:nvSpPr>
        <p:spPr>
          <a:xfrm>
            <a:off x="818543" y="2422245"/>
            <a:ext cx="48497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 (IV)</a:t>
            </a: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Name: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carat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Datatype: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 / Measurement data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Carat measures the weight of a diamond.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continuous numeric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commonly used as a key determinant of diamond value.</a:t>
            </a:r>
          </a:p>
          <a:p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6E0B6-99BF-8835-DD42-9DC2F6332F69}"/>
              </a:ext>
            </a:extLst>
          </p:cNvPr>
          <p:cNvSpPr txBox="1"/>
          <p:nvPr/>
        </p:nvSpPr>
        <p:spPr>
          <a:xfrm>
            <a:off x="5662248" y="2422245"/>
            <a:ext cx="60557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 (DV)</a:t>
            </a: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Name: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Datatype: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 / Measurement data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represents the selling value of each diamond in US dollars.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continuous numeric output variable.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 to measure how diamond attributes affect market pricing.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1800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E3CD731-5ACF-B002-247D-243F6E214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147638"/>
            <a:ext cx="9753625" cy="23083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GB" dirty="0"/>
              <a:t>Our Research Question is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 Template 1: Correlation)</a:t>
            </a:r>
            <a:b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“Is there a correlation between diamond carat and diamond price?”</a:t>
            </a:r>
            <a:endParaRPr lang="en-GB" sz="180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 7COM1079-2025  Student Group No:  A61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/>
          <a:lstStyle/>
          <a:p>
            <a:r>
              <a:rPr lang="en-US"/>
              <a:t>3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6B87F-7EF2-D684-E024-049CC9301A00}"/>
              </a:ext>
            </a:extLst>
          </p:cNvPr>
          <p:cNvSpPr txBox="1"/>
          <p:nvPr/>
        </p:nvSpPr>
        <p:spPr>
          <a:xfrm>
            <a:off x="623945" y="2227384"/>
            <a:ext cx="119603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Research Question Fits the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variables (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interval/measurement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is appropriate for identifying the strength and direction of their relationship.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53,940 rows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provides strong statistical support for this question.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of diamonds is widely believed to depend on carat weight, making this research question relevant and meaningful.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Used: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1: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Interval/Ordinal vs Interval/Ordinal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“Is there a correlation between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[dependent interval variable]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[independent interval variable]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32494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121662-904A-0284-77BF-C5B47C60A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8" y="1014187"/>
            <a:ext cx="10279150" cy="365125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Hypotheses</a:t>
            </a:r>
            <a:endParaRPr lang="en-PK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6B64221B-D6D4-E382-A91A-99FF908D5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0276" y="2274276"/>
            <a:ext cx="5345724" cy="3419075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(H₀):</a:t>
            </a:r>
            <a:b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correlation between diamond carat and diamond price.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Carat weight does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influence the price.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pattern seen in the sample data is due to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a real effect.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9F103E-F513-2174-4B26-C6310BABB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1138" y="2103137"/>
            <a:ext cx="5550553" cy="3175200"/>
          </a:xfrm>
        </p:spPr>
        <p:txBody>
          <a:bodyPr/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 (H₁):</a:t>
            </a: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correlation between diamond carat and diamond price.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Carat weight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influence the price.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is meaningful and present in the population.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EDF94-2B89-A21D-BBC0-E455C2D9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338475"/>
      </p:ext>
    </p:extLst>
  </p:cSld>
  <p:clrMapOvr>
    <a:masterClrMapping/>
  </p:clrMapOvr>
</p:sld>
</file>

<file path=ppt/theme/theme1.xml><?xml version="1.0" encoding="utf-8"?>
<a:theme xmlns:a="http://schemas.openxmlformats.org/drawingml/2006/main" name="Herts Theme">
  <a:themeElements>
    <a:clrScheme name="Custom 2">
      <a:dk1>
        <a:srgbClr val="203232"/>
      </a:dk1>
      <a:lt1>
        <a:srgbClr val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formation xmlns="4ad138b4-2b68-4b70-945d-07f8f18b1c9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DBA85F447B164191BB36C258697B67" ma:contentTypeVersion="14" ma:contentTypeDescription="Create a new document." ma:contentTypeScope="" ma:versionID="ea511d05ca7f895fe9556935b5c9af34">
  <xsd:schema xmlns:xsd="http://www.w3.org/2001/XMLSchema" xmlns:xs="http://www.w3.org/2001/XMLSchema" xmlns:p="http://schemas.microsoft.com/office/2006/metadata/properties" xmlns:ns2="4ad138b4-2b68-4b70-945d-07f8f18b1c9a" xmlns:ns3="3c474641-ec36-472f-b125-6b1b0910eaa4" targetNamespace="http://schemas.microsoft.com/office/2006/metadata/properties" ma:root="true" ma:fieldsID="662270106d7a7e100bcac2c5f8d29899" ns2:_="" ns3:_="">
    <xsd:import namespace="4ad138b4-2b68-4b70-945d-07f8f18b1c9a"/>
    <xsd:import namespace="3c474641-ec36-472f-b125-6b1b0910ea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Informa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d138b4-2b68-4b70-945d-07f8f18b1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Information" ma:index="12" nillable="true" ma:displayName="Information" ma:format="Dropdown" ma:internalName="Information">
      <xsd:simpleType>
        <xsd:restriction base="dms:Text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74641-ec36-472f-b125-6b1b0910eaa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D1FC41-23C7-41B0-B5F9-BF4CD38AD2ED}">
  <ds:schemaRefs>
    <ds:schemaRef ds:uri="3c474641-ec36-472f-b125-6b1b0910eaa4"/>
    <ds:schemaRef ds:uri="4ad138b4-2b68-4b70-945d-07f8f18b1c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1C521DD-2673-4EE6-BB9B-DC5C3320FF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1B8C57-903D-4D0E-8336-7B512F760CD1}">
  <ds:schemaRefs>
    <ds:schemaRef ds:uri="3c474641-ec36-472f-b125-6b1b0910eaa4"/>
    <ds:schemaRef ds:uri="4ad138b4-2b68-4b70-945d-07f8f18b1c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612</Words>
  <Application>Microsoft Office PowerPoint</Application>
  <PresentationFormat>Widescreen</PresentationFormat>
  <Paragraphs>117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Herts Theme</vt:lpstr>
      <vt:lpstr>Research Question – “Is there a correlation between diamond price and diamond carat weight?” Tutorial Presentation for Feedback  </vt:lpstr>
      <vt:lpstr>PowerPoint Presentation</vt:lpstr>
      <vt:lpstr>This dataset is interesting to us because it allows us to explore how diamond characteristics influence price  </vt:lpstr>
      <vt:lpstr>PowerPoint Presentation</vt:lpstr>
      <vt:lpstr>Hypotheses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Joanne Harwood</dc:creator>
  <cp:lastModifiedBy>77 Prabhat Vanmore</cp:lastModifiedBy>
  <cp:revision>120</cp:revision>
  <dcterms:created xsi:type="dcterms:W3CDTF">2019-10-01T08:37:56Z</dcterms:created>
  <dcterms:modified xsi:type="dcterms:W3CDTF">2025-11-24T11:26:32Z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0x01010026DBA85F447B164191BB36C258697B67</vt:lpwstr>
  </property>
</Properties>
</file>